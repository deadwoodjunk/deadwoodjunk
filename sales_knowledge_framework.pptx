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601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 spc="300">
                <a:solidFill>
                  <a:srgbClr val="64748B"/>
                </a:solidFill>
                <a:latin typeface="Meiryo"/>
              </a:rPr>
              <a:t>SALES KNOWLEDGE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10360152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5400" b="1">
                <a:solidFill>
                  <a:srgbClr val="1E293B"/>
                </a:solidFill>
                <a:latin typeface="Meiryo"/>
              </a:rPr>
              <a:t>営業に必要な3つの知識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566160"/>
            <a:ext cx="853135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600" b="0">
                <a:solidFill>
                  <a:srgbClr val="64748B"/>
                </a:solidFill>
                <a:latin typeface="Meiryo"/>
              </a:rPr>
              <a:t>成果を出す営業は「何を売るか」だけでなく、顧客と市場を立体的に理解している。</a:t>
            </a:r>
          </a:p>
          <a:p>
            <a:pPr algn="ctr">
              <a:lnSpc>
                <a:spcPct val="140000"/>
              </a:lnSpc>
            </a:pPr>
            <a:r>
              <a:rPr sz="1600" b="0">
                <a:solidFill>
                  <a:srgbClr val="64748B"/>
                </a:solidFill>
                <a:latin typeface="Meiryo"/>
              </a:rPr>
              <a:t>その土台となる3要素を整理します。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49527" y="4937760"/>
            <a:ext cx="3017520" cy="7772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478127" y="5120640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78127" y="512064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eiryo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81047" y="4937760"/>
            <a:ext cx="21945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>
                <a:solidFill>
                  <a:srgbClr val="1E293B"/>
                </a:solidFill>
                <a:latin typeface="Meiryo"/>
              </a:rPr>
              <a:t>業界知識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87087" y="4937760"/>
            <a:ext cx="3017520" cy="7772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815687" y="5120640"/>
            <a:ext cx="411480" cy="411480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15687" y="512064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eiryo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18607" y="4937760"/>
            <a:ext cx="21945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>
                <a:solidFill>
                  <a:srgbClr val="1E293B"/>
                </a:solidFill>
                <a:latin typeface="Meiryo"/>
              </a:rPr>
              <a:t>顧客個別の情報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24647" y="4937760"/>
            <a:ext cx="3017520" cy="7772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153247" y="5120640"/>
            <a:ext cx="411480" cy="411480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53247" y="512064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eiry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56167" y="4937760"/>
            <a:ext cx="21945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>
                <a:solidFill>
                  <a:srgbClr val="1E293B"/>
                </a:solidFill>
                <a:latin typeface="Meiryo"/>
              </a:rPr>
              <a:t>自社製品知識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spc="200">
                <a:solidFill>
                  <a:srgbClr val="64748B"/>
                </a:solidFill>
                <a:latin typeface="Meiryo"/>
              </a:rPr>
              <a:t>OVERVIEW ─ 全体像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698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E293B"/>
                </a:solidFill>
                <a:latin typeface="Meiryo"/>
              </a:rPr>
              <a:t>3つが重なる中心に「刺さる提案」が生まれる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64748B"/>
                </a:solidFill>
                <a:latin typeface="Meiryo"/>
              </a:rPr>
              <a:t>どれか1つが欠けても提案は弱くなる。3つの知識が交わる領域こそが、顧客に選ばれる「最適提案」のスイートスポット。</a:t>
            </a:r>
          </a:p>
        </p:txBody>
      </p:sp>
      <p:sp>
        <p:nvSpPr>
          <p:cNvPr id="6" name="Oval 5"/>
          <p:cNvSpPr/>
          <p:nvPr/>
        </p:nvSpPr>
        <p:spPr>
          <a:xfrm>
            <a:off x="4587087" y="2377440"/>
            <a:ext cx="3017520" cy="3017520"/>
          </a:xfrm>
          <a:prstGeom prst="ellipse">
            <a:avLst/>
          </a:prstGeom>
          <a:solidFill>
            <a:srgbClr val="2563EB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581247" y="3749040"/>
            <a:ext cx="3017520" cy="3017520"/>
          </a:xfrm>
          <a:prstGeom prst="ellipse">
            <a:avLst/>
          </a:prstGeom>
          <a:solidFill>
            <a:srgbClr val="16A34A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592927" y="3749040"/>
            <a:ext cx="3017520" cy="3017520"/>
          </a:xfrm>
          <a:prstGeom prst="ellipse">
            <a:avLst/>
          </a:prstGeom>
          <a:solidFill>
            <a:srgbClr val="EA580C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87087" y="278892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eiryo"/>
              </a:rPr>
              <a:t>① 業界知識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81247" y="484632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eiryo"/>
              </a:rPr>
              <a:t>② 顧客個別の情報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92927" y="484632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eiryo"/>
              </a:rPr>
              <a:t>③ 自社製品知識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72887" y="4069080"/>
            <a:ext cx="16459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eiryo"/>
              </a:rPr>
              <a:t>刺さる提案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spc="200">
                <a:solidFill>
                  <a:srgbClr val="64748B"/>
                </a:solidFill>
                <a:latin typeface="Meiryo"/>
              </a:rPr>
              <a:t>3 ELEMENTS ─ 要素一覧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698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E293B"/>
                </a:solidFill>
                <a:latin typeface="Meiryo"/>
              </a:rPr>
              <a:t>3つの知識でカバーする範囲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9427" y="1828800"/>
            <a:ext cx="3520440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49427" y="1828800"/>
            <a:ext cx="3520440" cy="109728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69467" y="2240280"/>
            <a:ext cx="502920" cy="502920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9467" y="224028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eiryo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09547" y="2240280"/>
            <a:ext cx="24231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>
                <a:solidFill>
                  <a:srgbClr val="1E293B"/>
                </a:solidFill>
                <a:latin typeface="Meiryo"/>
              </a:rPr>
              <a:t>業界知識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9467" y="2880360"/>
            <a:ext cx="2880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Meiryo"/>
              </a:rPr>
              <a:t>顧客が属する「市場」を読む</a:t>
            </a:r>
          </a:p>
        </p:txBody>
      </p:sp>
      <p:sp>
        <p:nvSpPr>
          <p:cNvPr id="11" name="Oval 10"/>
          <p:cNvSpPr/>
          <p:nvPr/>
        </p:nvSpPr>
        <p:spPr>
          <a:xfrm>
            <a:off x="815187" y="3493008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89507" y="3383280"/>
            <a:ext cx="2606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>
                <a:solidFill>
                  <a:srgbClr val="1E293B"/>
                </a:solidFill>
                <a:latin typeface="Meiryo"/>
              </a:rPr>
              <a:t>市場トレンド・将来予測</a:t>
            </a:r>
          </a:p>
        </p:txBody>
      </p:sp>
      <p:sp>
        <p:nvSpPr>
          <p:cNvPr id="13" name="Oval 12"/>
          <p:cNvSpPr/>
          <p:nvPr/>
        </p:nvSpPr>
        <p:spPr>
          <a:xfrm>
            <a:off x="815187" y="4114800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89507" y="4005072"/>
            <a:ext cx="2606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>
                <a:solidFill>
                  <a:srgbClr val="1E293B"/>
                </a:solidFill>
                <a:latin typeface="Meiryo"/>
              </a:rPr>
              <a:t>競合・業界構造</a:t>
            </a:r>
          </a:p>
        </p:txBody>
      </p:sp>
      <p:sp>
        <p:nvSpPr>
          <p:cNvPr id="15" name="Oval 14"/>
          <p:cNvSpPr/>
          <p:nvPr/>
        </p:nvSpPr>
        <p:spPr>
          <a:xfrm>
            <a:off x="815187" y="4736592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89507" y="4626864"/>
            <a:ext cx="2606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>
                <a:solidFill>
                  <a:srgbClr val="1E293B"/>
                </a:solidFill>
                <a:latin typeface="Meiryo"/>
              </a:rPr>
              <a:t>法規制・ガイドライン</a:t>
            </a:r>
          </a:p>
        </p:txBody>
      </p:sp>
      <p:sp>
        <p:nvSpPr>
          <p:cNvPr id="17" name="Oval 16"/>
          <p:cNvSpPr/>
          <p:nvPr/>
        </p:nvSpPr>
        <p:spPr>
          <a:xfrm>
            <a:off x="815187" y="5358384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9507" y="5248656"/>
            <a:ext cx="2606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>
                <a:solidFill>
                  <a:srgbClr val="1E293B"/>
                </a:solidFill>
                <a:latin typeface="Meiryo"/>
              </a:rPr>
              <a:t>業界特有の課題・専門用語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35627" y="1828800"/>
            <a:ext cx="3520440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335627" y="1828800"/>
            <a:ext cx="3520440" cy="109728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655667" y="2240280"/>
            <a:ext cx="502920" cy="502920"/>
          </a:xfrm>
          <a:prstGeom prst="roundRect">
            <a:avLst>
              <a:gd name="adj" fmla="val 25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55667" y="224028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eiryo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95747" y="2240280"/>
            <a:ext cx="24231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>
                <a:solidFill>
                  <a:srgbClr val="1E293B"/>
                </a:solidFill>
                <a:latin typeface="Meiryo"/>
              </a:rPr>
              <a:t>顧客個別の情報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55667" y="2880360"/>
            <a:ext cx="2880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Meiryo"/>
              </a:rPr>
              <a:t>目の前の「相手」を知る</a:t>
            </a:r>
          </a:p>
        </p:txBody>
      </p:sp>
      <p:sp>
        <p:nvSpPr>
          <p:cNvPr id="25" name="Oval 24"/>
          <p:cNvSpPr/>
          <p:nvPr/>
        </p:nvSpPr>
        <p:spPr>
          <a:xfrm>
            <a:off x="4701387" y="3493008"/>
            <a:ext cx="109728" cy="109728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975707" y="3383280"/>
            <a:ext cx="2606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>
                <a:solidFill>
                  <a:srgbClr val="1E293B"/>
                </a:solidFill>
                <a:latin typeface="Meiryo"/>
              </a:rPr>
              <a:t>経営課題・現場の困りごと</a:t>
            </a:r>
          </a:p>
        </p:txBody>
      </p:sp>
      <p:sp>
        <p:nvSpPr>
          <p:cNvPr id="27" name="Oval 26"/>
          <p:cNvSpPr/>
          <p:nvPr/>
        </p:nvSpPr>
        <p:spPr>
          <a:xfrm>
            <a:off x="4701387" y="4114800"/>
            <a:ext cx="109728" cy="109728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975707" y="4005072"/>
            <a:ext cx="2606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>
                <a:solidFill>
                  <a:srgbClr val="1E293B"/>
                </a:solidFill>
                <a:latin typeface="Meiryo"/>
              </a:rPr>
              <a:t>組織図・意思決定プロセス</a:t>
            </a:r>
          </a:p>
        </p:txBody>
      </p:sp>
      <p:sp>
        <p:nvSpPr>
          <p:cNvPr id="29" name="Oval 28"/>
          <p:cNvSpPr/>
          <p:nvPr/>
        </p:nvSpPr>
        <p:spPr>
          <a:xfrm>
            <a:off x="4701387" y="4736592"/>
            <a:ext cx="109728" cy="109728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975707" y="4626864"/>
            <a:ext cx="2606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>
                <a:solidFill>
                  <a:srgbClr val="1E293B"/>
                </a:solidFill>
                <a:latin typeface="Meiryo"/>
              </a:rPr>
              <a:t>キーパーソン／決裁者</a:t>
            </a:r>
          </a:p>
        </p:txBody>
      </p:sp>
      <p:sp>
        <p:nvSpPr>
          <p:cNvPr id="31" name="Oval 30"/>
          <p:cNvSpPr/>
          <p:nvPr/>
        </p:nvSpPr>
        <p:spPr>
          <a:xfrm>
            <a:off x="4701387" y="5358384"/>
            <a:ext cx="109728" cy="109728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975707" y="5248656"/>
            <a:ext cx="2606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>
                <a:solidFill>
                  <a:srgbClr val="1E293B"/>
                </a:solidFill>
                <a:latin typeface="Meiryo"/>
              </a:rPr>
              <a:t>予算・導入時期・購買履歴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221827" y="1828800"/>
            <a:ext cx="3520440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221827" y="1828800"/>
            <a:ext cx="3520440" cy="109728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541867" y="2240280"/>
            <a:ext cx="502920" cy="502920"/>
          </a:xfrm>
          <a:prstGeom prst="roundRect">
            <a:avLst>
              <a:gd name="adj" fmla="val 25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541867" y="224028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eiryo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81947" y="2240280"/>
            <a:ext cx="24231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>
                <a:solidFill>
                  <a:srgbClr val="1E293B"/>
                </a:solidFill>
                <a:latin typeface="Meiryo"/>
              </a:rPr>
              <a:t>自社製品知識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41867" y="2880360"/>
            <a:ext cx="2880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Meiryo"/>
              </a:rPr>
              <a:t>提供できる「価値」を語る</a:t>
            </a:r>
          </a:p>
        </p:txBody>
      </p:sp>
      <p:sp>
        <p:nvSpPr>
          <p:cNvPr id="39" name="Oval 38"/>
          <p:cNvSpPr/>
          <p:nvPr/>
        </p:nvSpPr>
        <p:spPr>
          <a:xfrm>
            <a:off x="8587587" y="3493008"/>
            <a:ext cx="109728" cy="109728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861907" y="3383280"/>
            <a:ext cx="2606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>
                <a:solidFill>
                  <a:srgbClr val="1E293B"/>
                </a:solidFill>
                <a:latin typeface="Meiryo"/>
              </a:rPr>
              <a:t>機能・仕様・できること</a:t>
            </a:r>
          </a:p>
        </p:txBody>
      </p:sp>
      <p:sp>
        <p:nvSpPr>
          <p:cNvPr id="41" name="Oval 40"/>
          <p:cNvSpPr/>
          <p:nvPr/>
        </p:nvSpPr>
        <p:spPr>
          <a:xfrm>
            <a:off x="8587587" y="4114800"/>
            <a:ext cx="109728" cy="109728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861907" y="4005072"/>
            <a:ext cx="2606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>
                <a:solidFill>
                  <a:srgbClr val="1E293B"/>
                </a:solidFill>
                <a:latin typeface="Meiryo"/>
              </a:rPr>
              <a:t>強み／弱み・差別化ポイント</a:t>
            </a:r>
          </a:p>
        </p:txBody>
      </p:sp>
      <p:sp>
        <p:nvSpPr>
          <p:cNvPr id="43" name="Oval 42"/>
          <p:cNvSpPr/>
          <p:nvPr/>
        </p:nvSpPr>
        <p:spPr>
          <a:xfrm>
            <a:off x="8587587" y="4736592"/>
            <a:ext cx="109728" cy="109728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861907" y="4626864"/>
            <a:ext cx="2606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>
                <a:solidFill>
                  <a:srgbClr val="1E293B"/>
                </a:solidFill>
                <a:latin typeface="Meiryo"/>
              </a:rPr>
              <a:t>価格・導入条件・サポート</a:t>
            </a:r>
          </a:p>
        </p:txBody>
      </p:sp>
      <p:sp>
        <p:nvSpPr>
          <p:cNvPr id="45" name="Oval 44"/>
          <p:cNvSpPr/>
          <p:nvPr/>
        </p:nvSpPr>
        <p:spPr>
          <a:xfrm>
            <a:off x="8587587" y="5358384"/>
            <a:ext cx="109728" cy="109728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861907" y="5248656"/>
            <a:ext cx="2606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>
                <a:solidFill>
                  <a:srgbClr val="1E293B"/>
                </a:solidFill>
                <a:latin typeface="Meiryo"/>
              </a:rPr>
              <a:t>導入事例・成功実績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1828800"/>
            <a:ext cx="3200400" cy="320040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3200400" cy="3200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0" b="1">
                <a:solidFill>
                  <a:srgbClr val="FFFFFF"/>
                </a:solidFill>
                <a:latin typeface="Meiryo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280160"/>
            <a:ext cx="6675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spc="200">
                <a:solidFill>
                  <a:srgbClr val="64748B"/>
                </a:solidFill>
                <a:latin typeface="Meiryo"/>
              </a:rPr>
              <a:t>ELEMENT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645920"/>
            <a:ext cx="6675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>
                <a:solidFill>
                  <a:srgbClr val="2563EB"/>
                </a:solidFill>
                <a:latin typeface="Meiryo"/>
              </a:rPr>
              <a:t>業界知識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2560320"/>
            <a:ext cx="365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563EB"/>
                </a:solidFill>
                <a:latin typeface="Meiryo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66360" y="2560320"/>
            <a:ext cx="6217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0">
                <a:solidFill>
                  <a:srgbClr val="1E293B"/>
                </a:solidFill>
                <a:latin typeface="Meiryo"/>
              </a:rPr>
              <a:t>市場規模・成長性とトレンド</a:t>
            </a:r>
          </a:p>
        </p:txBody>
      </p:sp>
      <p:sp>
        <p:nvSpPr>
          <p:cNvPr id="9" name="Rectangle 8"/>
          <p:cNvSpPr/>
          <p:nvPr/>
        </p:nvSpPr>
        <p:spPr>
          <a:xfrm>
            <a:off x="4754880" y="3035808"/>
            <a:ext cx="6675120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0" y="3127248"/>
            <a:ext cx="365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563EB"/>
                </a:solidFill>
                <a:latin typeface="Meiryo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66360" y="3127248"/>
            <a:ext cx="6217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0">
                <a:solidFill>
                  <a:srgbClr val="1E293B"/>
                </a:solidFill>
                <a:latin typeface="Meiryo"/>
              </a:rPr>
              <a:t>競合他社の動向と業界構造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54880" y="3602736"/>
            <a:ext cx="6675120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0" y="3694176"/>
            <a:ext cx="365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563EB"/>
                </a:solidFill>
                <a:latin typeface="Meiryo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66360" y="3694176"/>
            <a:ext cx="6217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0">
                <a:solidFill>
                  <a:srgbClr val="1E293B"/>
                </a:solidFill>
                <a:latin typeface="Meiryo"/>
              </a:rPr>
              <a:t>法規制・コンプライアンス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54880" y="4169664"/>
            <a:ext cx="6675120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80" y="4261104"/>
            <a:ext cx="365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563EB"/>
                </a:solidFill>
                <a:latin typeface="Meiryo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66360" y="4261104"/>
            <a:ext cx="6217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0">
                <a:solidFill>
                  <a:srgbClr val="1E293B"/>
                </a:solidFill>
                <a:latin typeface="Meiryo"/>
              </a:rPr>
              <a:t>業界用語・商習慣の理解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54880" y="4736592"/>
            <a:ext cx="6675120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754880" y="4965192"/>
            <a:ext cx="6675120" cy="822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0" y="4965192"/>
            <a:ext cx="612648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>
                <a:solidFill>
                  <a:srgbClr val="64748B"/>
                </a:solidFill>
                <a:latin typeface="Meiryo"/>
              </a:rPr>
              <a:t>💡 役割：顧客と「同じ目線」で語り、信頼を獲得する。話の前提が共有できる営業は強い。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1828800"/>
            <a:ext cx="3200400" cy="3200400"/>
          </a:xfrm>
          <a:prstGeom prst="roundRect">
            <a:avLst>
              <a:gd name="adj" fmla="val 8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3200400" cy="3200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0" b="1">
                <a:solidFill>
                  <a:srgbClr val="FFFFFF"/>
                </a:solidFill>
                <a:latin typeface="Meiryo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280160"/>
            <a:ext cx="6675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spc="200">
                <a:solidFill>
                  <a:srgbClr val="64748B"/>
                </a:solidFill>
                <a:latin typeface="Meiryo"/>
              </a:rPr>
              <a:t>ELEMENT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645920"/>
            <a:ext cx="6675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>
                <a:solidFill>
                  <a:srgbClr val="16A34A"/>
                </a:solidFill>
                <a:latin typeface="Meiryo"/>
              </a:rPr>
              <a:t>顧客個別の情報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2560320"/>
            <a:ext cx="365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6A34A"/>
                </a:solidFill>
                <a:latin typeface="Meiryo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66360" y="2560320"/>
            <a:ext cx="6217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0">
                <a:solidFill>
                  <a:srgbClr val="1E293B"/>
                </a:solidFill>
                <a:latin typeface="Meiryo"/>
              </a:rPr>
              <a:t>顧客固有の課題・ニーズ</a:t>
            </a:r>
          </a:p>
        </p:txBody>
      </p:sp>
      <p:sp>
        <p:nvSpPr>
          <p:cNvPr id="9" name="Rectangle 8"/>
          <p:cNvSpPr/>
          <p:nvPr/>
        </p:nvSpPr>
        <p:spPr>
          <a:xfrm>
            <a:off x="4754880" y="3035808"/>
            <a:ext cx="6675120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0" y="3127248"/>
            <a:ext cx="365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6A34A"/>
                </a:solidFill>
                <a:latin typeface="Meiryo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66360" y="3127248"/>
            <a:ext cx="6217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0">
                <a:solidFill>
                  <a:srgbClr val="1E293B"/>
                </a:solidFill>
                <a:latin typeface="Meiryo"/>
              </a:rPr>
              <a:t>組織体制・意思決定フロー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54880" y="3602736"/>
            <a:ext cx="6675120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0" y="3694176"/>
            <a:ext cx="365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6A34A"/>
                </a:solidFill>
                <a:latin typeface="Meiryo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66360" y="3694176"/>
            <a:ext cx="6217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0">
                <a:solidFill>
                  <a:srgbClr val="1E293B"/>
                </a:solidFill>
                <a:latin typeface="Meiryo"/>
              </a:rPr>
              <a:t>キーパーソンと関係構築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54880" y="4169664"/>
            <a:ext cx="6675120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80" y="4261104"/>
            <a:ext cx="365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6A34A"/>
                </a:solidFill>
                <a:latin typeface="Meiryo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66360" y="4261104"/>
            <a:ext cx="6217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0">
                <a:solidFill>
                  <a:srgbClr val="1E293B"/>
                </a:solidFill>
                <a:latin typeface="Meiryo"/>
              </a:rPr>
              <a:t>予算規模・導入タイミング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54880" y="4736592"/>
            <a:ext cx="6675120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754880" y="4965192"/>
            <a:ext cx="6675120" cy="822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0" y="4965192"/>
            <a:ext cx="612648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>
                <a:solidFill>
                  <a:srgbClr val="64748B"/>
                </a:solidFill>
                <a:latin typeface="Meiryo"/>
              </a:rPr>
              <a:t>💡 役割：提案を「あなた向け」にカスタマイズする。一般論を“自分ごと”に変える鍵。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1828800"/>
            <a:ext cx="3200400" cy="3200400"/>
          </a:xfrm>
          <a:prstGeom prst="roundRect">
            <a:avLst>
              <a:gd name="adj" fmla="val 8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3200400" cy="3200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0" b="1">
                <a:solidFill>
                  <a:srgbClr val="FFFFFF"/>
                </a:solidFill>
                <a:latin typeface="Meiryo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280160"/>
            <a:ext cx="6675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spc="200">
                <a:solidFill>
                  <a:srgbClr val="64748B"/>
                </a:solidFill>
                <a:latin typeface="Meiryo"/>
              </a:rPr>
              <a:t>ELEMENT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645920"/>
            <a:ext cx="6675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>
                <a:solidFill>
                  <a:srgbClr val="EA580C"/>
                </a:solidFill>
                <a:latin typeface="Meiryo"/>
              </a:rPr>
              <a:t>自社製品知識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2560320"/>
            <a:ext cx="365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EA580C"/>
                </a:solidFill>
                <a:latin typeface="Meiryo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66360" y="2560320"/>
            <a:ext cx="6217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0">
                <a:solidFill>
                  <a:srgbClr val="1E293B"/>
                </a:solidFill>
                <a:latin typeface="Meiryo"/>
              </a:rPr>
              <a:t>機能・仕様を正確に説明できる</a:t>
            </a:r>
          </a:p>
        </p:txBody>
      </p:sp>
      <p:sp>
        <p:nvSpPr>
          <p:cNvPr id="9" name="Rectangle 8"/>
          <p:cNvSpPr/>
          <p:nvPr/>
        </p:nvSpPr>
        <p:spPr>
          <a:xfrm>
            <a:off x="4754880" y="3035808"/>
            <a:ext cx="6675120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0" y="3127248"/>
            <a:ext cx="365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EA580C"/>
                </a:solidFill>
                <a:latin typeface="Meiryo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66360" y="3127248"/>
            <a:ext cx="6217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0">
                <a:solidFill>
                  <a:srgbClr val="1E293B"/>
                </a:solidFill>
                <a:latin typeface="Meiryo"/>
              </a:rPr>
              <a:t>強み・差別化ポイントの提示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54880" y="3602736"/>
            <a:ext cx="6675120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0" y="3694176"/>
            <a:ext cx="365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EA580C"/>
                </a:solidFill>
                <a:latin typeface="Meiryo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66360" y="3694176"/>
            <a:ext cx="6217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0">
                <a:solidFill>
                  <a:srgbClr val="1E293B"/>
                </a:solidFill>
                <a:latin typeface="Meiryo"/>
              </a:rPr>
              <a:t>価格・契約・サポート条件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54880" y="4169664"/>
            <a:ext cx="6675120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80" y="4261104"/>
            <a:ext cx="365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EA580C"/>
                </a:solidFill>
                <a:latin typeface="Meiryo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66360" y="4261104"/>
            <a:ext cx="6217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0">
                <a:solidFill>
                  <a:srgbClr val="1E293B"/>
                </a:solidFill>
                <a:latin typeface="Meiryo"/>
              </a:rPr>
              <a:t>導入事例で効果をイメージ化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54880" y="4736592"/>
            <a:ext cx="6675120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754880" y="4965192"/>
            <a:ext cx="6675120" cy="822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0" y="4965192"/>
            <a:ext cx="612648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>
                <a:solidFill>
                  <a:srgbClr val="64748B"/>
                </a:solidFill>
                <a:latin typeface="Meiryo"/>
              </a:rPr>
              <a:t>💡 役割：課題に対する「解決策」を具体的に示す。価値を翻訳して伝える力。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spc="200">
                <a:solidFill>
                  <a:srgbClr val="64748B"/>
                </a:solidFill>
                <a:latin typeface="Meiryo"/>
              </a:rPr>
              <a:t>SUMMARY ─ まとめ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6984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E293B"/>
                </a:solidFill>
                <a:latin typeface="Meiryo"/>
              </a:rPr>
              <a:t>3つの掛け算が、提案の質を決める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00887" y="2651760"/>
            <a:ext cx="1920240" cy="914400"/>
          </a:xfrm>
          <a:prstGeom prst="roundRect">
            <a:avLst>
              <a:gd name="adj" fmla="val 1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887" y="2651760"/>
            <a:ext cx="19202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Meiryo"/>
              </a:rPr>
              <a:t>業界知識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21127" y="2651760"/>
            <a:ext cx="5486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64748B"/>
                </a:solidFill>
                <a:latin typeface="Meiryo"/>
              </a:rPr>
              <a:t>×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69767" y="2651760"/>
            <a:ext cx="2286000" cy="914400"/>
          </a:xfrm>
          <a:prstGeom prst="roundRect">
            <a:avLst>
              <a:gd name="adj" fmla="val 18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69767" y="2651760"/>
            <a:ext cx="22860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Meiryo"/>
              </a:rPr>
              <a:t>顧客個別の情報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55767" y="2651760"/>
            <a:ext cx="5486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64748B"/>
                </a:solidFill>
                <a:latin typeface="Meiryo"/>
              </a:rPr>
              <a:t>×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04407" y="2651760"/>
            <a:ext cx="2286000" cy="914400"/>
          </a:xfrm>
          <a:prstGeom prst="roundRect">
            <a:avLst>
              <a:gd name="adj" fmla="val 18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04407" y="2651760"/>
            <a:ext cx="22860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Meiryo"/>
              </a:rPr>
              <a:t>自社製品知識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90407" y="2651760"/>
            <a:ext cx="5486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64748B"/>
                </a:solidFill>
                <a:latin typeface="Meiryo"/>
              </a:rPr>
              <a:t>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39047" y="2651760"/>
            <a:ext cx="2651760" cy="914400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39047" y="2651760"/>
            <a:ext cx="265176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eiryo"/>
              </a:rPr>
              <a:t>選ばれる提案力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114800"/>
            <a:ext cx="9445752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600" b="0">
                <a:solidFill>
                  <a:srgbClr val="64748B"/>
                </a:solidFill>
                <a:latin typeface="Meiryo"/>
              </a:rPr>
              <a:t>足し算ではなく「掛け算」。どれか1つでもゼロに近いと、提案全体の説得力が大きく下がる。</a:t>
            </a:r>
          </a:p>
          <a:p>
            <a:pPr algn="ctr">
              <a:lnSpc>
                <a:spcPct val="150000"/>
              </a:lnSpc>
            </a:pPr>
            <a:r>
              <a:rPr sz="1600" b="0">
                <a:solidFill>
                  <a:srgbClr val="64748B"/>
                </a:solidFill>
                <a:latin typeface="Meiryo"/>
              </a:rPr>
              <a:t>3要素をバランスよく磨き続けることが、継続的に成果を出す営業の条件。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